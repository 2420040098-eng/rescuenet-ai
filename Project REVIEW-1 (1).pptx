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904" r:id="rId5"/>
    <p:sldId id="257" r:id="rId6"/>
    <p:sldId id="903" r:id="rId7"/>
    <p:sldId id="902" r:id="rId8"/>
    <p:sldId id="258" r:id="rId9"/>
    <p:sldId id="259" r:id="rId10"/>
    <p:sldId id="260" r:id="rId11"/>
    <p:sldId id="9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gandhar Prakash Tadavarthy" userId="69b186e073b9512d" providerId="LiveId" clId="{76A574BF-6786-4746-8F69-2EF66D297697}"/>
    <pc:docChg chg="modSld">
      <pc:chgData name="Yugandhar Prakash Tadavarthy" userId="69b186e073b9512d" providerId="LiveId" clId="{76A574BF-6786-4746-8F69-2EF66D297697}" dt="2026-08-19T17:11:11.812" v="1" actId="255"/>
      <pc:docMkLst>
        <pc:docMk/>
      </pc:docMkLst>
      <pc:sldChg chg="modSp mod">
        <pc:chgData name="Yugandhar Prakash Tadavarthy" userId="69b186e073b9512d" providerId="LiveId" clId="{76A574BF-6786-4746-8F69-2EF66D297697}" dt="2026-08-19T17:11:11.812" v="1" actId="255"/>
        <pc:sldMkLst>
          <pc:docMk/>
          <pc:sldMk cId="1843937772" sldId="257"/>
        </pc:sldMkLst>
        <pc:spChg chg="mod">
          <ac:chgData name="Yugandhar Prakash Tadavarthy" userId="69b186e073b9512d" providerId="LiveId" clId="{76A574BF-6786-4746-8F69-2EF66D297697}" dt="2026-08-19T17:11:11.812" v="1" actId="255"/>
          <ac:spMkLst>
            <pc:docMk/>
            <pc:sldMk cId="1843937772" sldId="257"/>
            <ac:spMk id="2" creationId="{83666315-B672-AEAD-8590-5874F321E5A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377221713002166?utm_source=chatgpt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www.mdpi.com/2673-4591/59/1/19?utm_source=chatgpt.com" TargetMode="External"/><Relationship Id="rId4" Type="http://schemas.openxmlformats.org/officeDocument/2006/relationships/hyperlink" Target="https://www.sciencedirect.com/science/article/abs/pii/S2212420916305751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877242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 Members (Batch 12):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2420030197- Sai Neeraj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2420090006- Vignesh Reddy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2420040098- Rahul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20 August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762769"/>
            <a:ext cx="111571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RescueNet</a:t>
            </a:r>
            <a:r>
              <a:rPr lang="en-IN" sz="2800" b="1" dirty="0">
                <a:solidFill>
                  <a:schemeClr val="bg1"/>
                </a:solidFill>
              </a:rPr>
              <a:t> AI: </a:t>
            </a:r>
            <a:r>
              <a:rPr lang="en-IN" sz="2800" b="1" i="1" dirty="0">
                <a:solidFill>
                  <a:schemeClr val="bg1"/>
                </a:solidFill>
              </a:rPr>
              <a:t>A Multi-Agent Disaster Prediction, Emergency Coordination, and Resource Allocation Framework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r>
              <a:rPr lang="en-US" b="1" dirty="0"/>
              <a:t>20 August 2026</a:t>
            </a:r>
            <a:endParaRPr lang="en-I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269F-798A-FB34-90FF-8519568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8F822B-F303-B80A-DDC3-F515A536E1C6}"/>
              </a:ext>
            </a:extLst>
          </p:cNvPr>
          <p:cNvSpPr txBox="1"/>
          <p:nvPr/>
        </p:nvSpPr>
        <p:spPr>
          <a:xfrm>
            <a:off x="2730166" y="4538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32E7F-09B1-0AFB-83E6-3FF7810AD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C2B491-5542-6853-2916-97FE0CE1D754}"/>
              </a:ext>
            </a:extLst>
          </p:cNvPr>
          <p:cNvSpPr txBox="1"/>
          <p:nvPr/>
        </p:nvSpPr>
        <p:spPr>
          <a:xfrm>
            <a:off x="808074" y="1630326"/>
            <a:ext cx="1051914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disasters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floods, cyclones, earthquakes, landslides, and severe storms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significant loss of life and infrastructure.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disaster-management systems often depend on manual monitoring and coordination, which can result in: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emergency response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communication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situational awareness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distribution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prioritizing high-risk regions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Idea: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RescueNet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disaster-management framework that combines: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+ Multi-Agent Systems + Data Analytics + Geospatial Mapping +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prediction, coordination, monitoring, and resource allocation.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648CA578-14E5-7C66-2E42-E55F87E8213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defRPr/>
            </a:pPr>
            <a:r>
              <a:rPr lang="en-US" b="1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20 August 2026</a:t>
            </a:r>
            <a:endParaRPr lang="en-IN" b="1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A76C43-2BF0-9747-9214-D2E60FFF1F85}"/>
              </a:ext>
            </a:extLst>
          </p:cNvPr>
          <p:cNvSpPr txBox="1"/>
          <p:nvPr/>
        </p:nvSpPr>
        <p:spPr>
          <a:xfrm>
            <a:off x="2514602" y="635635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89317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666315-B672-AEAD-8590-5874F321E5A7}"/>
              </a:ext>
            </a:extLst>
          </p:cNvPr>
          <p:cNvSpPr txBox="1"/>
          <p:nvPr/>
        </p:nvSpPr>
        <p:spPr>
          <a:xfrm>
            <a:off x="637953" y="1658679"/>
            <a:ext cx="110365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disaster-management approaches lack an integrated system for disaster prediction, emergency coordination, and dynamic resource allocation, leading to delayed response and inefficient resource utilization.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RescueNet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addresses this problem by integrating these functions through a multi-agent, AI-driven framework with a centralized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990D99F3-6B4C-F6D3-968E-8703E496D02E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defRPr/>
            </a:pPr>
            <a:r>
              <a:rPr lang="en-US" b="1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20 August 2026</a:t>
            </a:r>
            <a:endParaRPr lang="en-IN" b="1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3A448-8359-69A8-39A3-81AF309E262C}"/>
              </a:ext>
            </a:extLst>
          </p:cNvPr>
          <p:cNvSpPr txBox="1"/>
          <p:nvPr/>
        </p:nvSpPr>
        <p:spPr>
          <a:xfrm>
            <a:off x="2514602" y="635635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0C73E5-A07F-C9E7-8496-776FB83C93A8}"/>
              </a:ext>
            </a:extLst>
          </p:cNvPr>
          <p:cNvSpPr txBox="1"/>
          <p:nvPr/>
        </p:nvSpPr>
        <p:spPr>
          <a:xfrm>
            <a:off x="595422" y="1559442"/>
            <a:ext cx="1098697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Disaster Prediction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ML models to estimate disaster probability and severity from environmental and historical data.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Emergency Coordination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autonomous agents to manage incidents, rescue teams, alerts, and response activities.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Resource Allocation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mechanism for prioritizing and distributing emergency resources.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Situational Awareness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interactive maps, charts, alerts, and operational statistics.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Unified Dashboard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enhanced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command-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and decision support.</a:t>
            </a:r>
          </a:p>
          <a:p>
            <a:endParaRPr lang="en-IN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D8A007AF-2DFA-1C92-E7A4-1C756DD544B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defRPr/>
            </a:pPr>
            <a:r>
              <a:rPr lang="en-US" b="1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20 August 2026</a:t>
            </a:r>
            <a:endParaRPr lang="en-IN" b="1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9216A-289C-811C-76A0-1D2D0C67356C}"/>
              </a:ext>
            </a:extLst>
          </p:cNvPr>
          <p:cNvSpPr txBox="1"/>
          <p:nvPr/>
        </p:nvSpPr>
        <p:spPr>
          <a:xfrm>
            <a:off x="2367516" y="640458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9507500"/>
              </p:ext>
            </p:extLst>
          </p:nvPr>
        </p:nvGraphicFramePr>
        <p:xfrm>
          <a:off x="274646" y="689465"/>
          <a:ext cx="11690527" cy="571806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3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748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476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1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Edrissi</a:t>
                      </a:r>
                      <a:r>
                        <a:rPr lang="en-IN" sz="1400" dirty="0"/>
                        <a:t> et al. (2013)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 Multi-Agent Optimization Formulation of Earthquake Disaster Prevention and Management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Multi-agent optimization and heuristic approaches for coordinating multiple disaster-management agencies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The study models coordination between three agencies across disaster-management phases and reports </a:t>
                      </a:r>
                      <a:r>
                        <a:rPr lang="en-IN" sz="1400" b="1" dirty="0"/>
                        <a:t>7.5–24% improvement in death-toll-related outcomes</a:t>
                      </a:r>
                      <a:r>
                        <a:rPr lang="en-IN" sz="1400" dirty="0"/>
                        <a:t> under coordinated operations.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Focuses mainly on earthquake scenarios and agency coordination; does not integrate ML-based disaster prediction with a unified real-time dashboard.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br>
                        <a:rPr lang="en-IN" sz="1400" dirty="0"/>
                      </a:br>
                      <a:r>
                        <a:rPr lang="en-IN" sz="1400" dirty="0"/>
                        <a:t>Link: </a:t>
                      </a:r>
                      <a:r>
                        <a:rPr lang="en-IN" sz="1400" b="1" dirty="0" err="1">
                          <a:hlinkClick r:id="rId3"/>
                        </a:rPr>
                        <a:t>Edrissi</a:t>
                      </a:r>
                      <a:r>
                        <a:rPr lang="en-IN" sz="1400" b="1" dirty="0">
                          <a:hlinkClick r:id="rId3"/>
                        </a:rPr>
                        <a:t> et al.(2013)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7843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J. P. C. (?) / Adaptive Multi-Agent Study (2017)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Adaptive Multi-Agent Relief Assessment and Emergency Response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Multi-agent system, </a:t>
                      </a:r>
                      <a:r>
                        <a:rPr lang="en-IN" sz="1400" b="1" dirty="0"/>
                        <a:t>Markov Decision Process (MDP)</a:t>
                      </a:r>
                      <a:r>
                        <a:rPr lang="en-IN" sz="1400" dirty="0"/>
                        <a:t> and reinforcement learning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Proposes a system for coordinating relief assessment teams and emergency response teams and supporting demand-responsive humanitarian aid distribution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Primarily focuses on relief assessment and response; the framework does not provide an integrated ML prediction + resource-management dashboard like the proposed </a:t>
                      </a:r>
                      <a:r>
                        <a:rPr lang="en-IN" sz="1400" dirty="0" err="1"/>
                        <a:t>RescueNet</a:t>
                      </a:r>
                      <a:r>
                        <a:rPr lang="en-IN" sz="1400" dirty="0"/>
                        <a:t> AI. 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IN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Link: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  <a:hlinkClick r:id="rId4"/>
                        </a:rPr>
                        <a:t>J.P.C.(2017)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6624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Pachar et al. (2023)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Recent Developments in Machine Learning Predictive Analytics for Disaster Resource Allocation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Machine-learning predictive analytics and data-driven disaster-risk/resource-management approaches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Highlights the importance of combining diverse data sources and predictive models for evidence-driven disaster risk management and resource allocation.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Primarily reviews predictive analytics and resource-allocation developments rather than providing a unified multi-agent operational framework.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b="0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Link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: </a:t>
                      </a:r>
                      <a:r>
                        <a:rPr lang="en-IN" sz="1400" b="1" i="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  <a:hlinkClick r:id="rId5"/>
                        </a:rPr>
                        <a:t>Pachar et al.(2023)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638C2C7-B138-DC37-FE51-F5EA1004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defTabSz="457200">
              <a:defRPr/>
            </a:pPr>
            <a:r>
              <a:rPr lang="en-US" b="1" dirty="0"/>
              <a:t>20 August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3661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8F852D-CDCC-4810-31BD-FA70D42EB921}"/>
              </a:ext>
            </a:extLst>
          </p:cNvPr>
          <p:cNvSpPr txBox="1"/>
          <p:nvPr/>
        </p:nvSpPr>
        <p:spPr>
          <a:xfrm>
            <a:off x="588336" y="1154260"/>
            <a:ext cx="1134848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Lack of an Integrated Framework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disaster-management tasks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prediction, emergency coordination, or resource allocation, rather than integrating all three into one framework.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Integration of ML and Multi-Agent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approaches are used for disaster/flood prediction, while multi-agent approaches focus mainly on emergency coordination.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Limited Dynamic Resource Management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multi-agent studies primarily focus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scheduling, coordination, or relief assessment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limited integration of dynamic resource allocation based on predicted disaster severity.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Limited Real-Time Decision Support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are designed for specific scenarios or simulation environments and do not provide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real-time operational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predictions, incidents, teams, and resources.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Limited Geospatial and Visual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prediction and coordination are not consistently combined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GIS-based risk maps and visual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</a:p>
          <a:p>
            <a:endParaRPr lang="en-IN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6257249D-E3FB-55BC-0321-9744E7799CC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defRPr/>
            </a:pPr>
            <a:r>
              <a:rPr lang="en-US" b="1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20 August 2026</a:t>
            </a:r>
            <a:endParaRPr lang="en-IN" b="1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D30385-D69A-137E-9CCD-79E5FC051326}"/>
              </a:ext>
            </a:extLst>
          </p:cNvPr>
          <p:cNvSpPr txBox="1"/>
          <p:nvPr/>
        </p:nvSpPr>
        <p:spPr>
          <a:xfrm>
            <a:off x="637953" y="1453116"/>
            <a:ext cx="1129886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disaster prediction, emergency coordination, and resource allocation.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specialized AI agents for different disaster-response tasks.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severity-based resource prioritization.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centralized disaster command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ML predictions, alerts, analytics, resource status, and GIS maps.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decision support for emergency responders.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+ Multi-Agent Systems + Dynamic Resource Allocation + GIS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unified framework.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the complete workflow: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→ Coordination → Allocation →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integrated prototype decision-support platform rather than separate standalone modules.</a:t>
            </a:r>
          </a:p>
          <a:p>
            <a:endParaRPr lang="en-IN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568BCA8D-9E3E-2F38-902E-830AB235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defTabSz="457200">
              <a:defRPr/>
            </a:pPr>
            <a:r>
              <a:rPr lang="en-US" b="1" dirty="0"/>
              <a:t>20 August 2026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BE49D-4ABE-2786-7E46-2DD5AA90DEB3}"/>
              </a:ext>
            </a:extLst>
          </p:cNvPr>
          <p:cNvSpPr txBox="1"/>
          <p:nvPr/>
        </p:nvSpPr>
        <p:spPr>
          <a:xfrm>
            <a:off x="2771554" y="640041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594115" y="311275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640837-D94A-17D5-B46E-C43E02E88BCD}"/>
              </a:ext>
            </a:extLst>
          </p:cNvPr>
          <p:cNvSpPr txBox="1"/>
          <p:nvPr/>
        </p:nvSpPr>
        <p:spPr>
          <a:xfrm>
            <a:off x="1389320" y="1071801"/>
            <a:ext cx="5131982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— Research &amp; Data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1–3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Research-gap identification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— ML Development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4–6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Disaster-risk prediction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— Multi-Agent Framework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5–8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Agent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Agent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Agent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Agent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FC684-DA70-B7EF-996A-46AF314FB063}"/>
              </a:ext>
            </a:extLst>
          </p:cNvPr>
          <p:cNvSpPr txBox="1"/>
          <p:nvPr/>
        </p:nvSpPr>
        <p:spPr>
          <a:xfrm>
            <a:off x="5578549" y="1071801"/>
            <a:ext cx="513198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— Application Development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7–10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</a:p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Folium risk map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and resource cards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integration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— Testing &amp; Evaluation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Weeks 10–12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Resource-allocation evaluation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</a:t>
            </a:r>
          </a:p>
          <a:p>
            <a:endParaRPr lang="en-IN" dirty="0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782D6CA8-5DBF-BAD8-72E6-3EFBAB93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4024" y="6434322"/>
            <a:ext cx="2743200" cy="365125"/>
          </a:xfrm>
        </p:spPr>
        <p:txBody>
          <a:bodyPr/>
          <a:lstStyle/>
          <a:p>
            <a:pPr defTabSz="457200">
              <a:defRPr/>
            </a:pPr>
            <a:r>
              <a:rPr lang="en-US" b="1" dirty="0"/>
              <a:t>20 August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A588F-171C-A714-0DD9-09ACCD69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15F2E8-CF20-2B51-8ADA-8FD5E920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B0621D-F379-8FB0-0925-72470F53FAD5}"/>
              </a:ext>
            </a:extLst>
          </p:cNvPr>
          <p:cNvSpPr txBox="1"/>
          <p:nvPr/>
        </p:nvSpPr>
        <p:spPr>
          <a:xfrm>
            <a:off x="1003004" y="2218661"/>
            <a:ext cx="99733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773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979</Words>
  <Application>Microsoft Office PowerPoint</Application>
  <PresentationFormat>Widescreen</PresentationFormat>
  <Paragraphs>177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Yugandhar Prakash Tadavarthy</cp:lastModifiedBy>
  <cp:revision>31</cp:revision>
  <dcterms:created xsi:type="dcterms:W3CDTF">2026-08-08T06:33:56Z</dcterms:created>
  <dcterms:modified xsi:type="dcterms:W3CDTF">2026-08-19T17:11:17Z</dcterms:modified>
</cp:coreProperties>
</file>